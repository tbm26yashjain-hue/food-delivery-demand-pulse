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50" kern="0" dirty="0">
                <a:solidFill>
                  <a:srgbClr val="6B85A8"/>
                </a:solidFill>
              </a:rPr>
              <a:t>CASE 3  ·  FOOD DELIVERY DEMAND PULSE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11338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 regional food-delivery company</a:t>
            </a:r>
            <a:endParaRPr lang="en-US" sz="3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is overpaying surge incentives —</a:t>
            </a:r>
            <a:endParaRPr lang="en-US" sz="3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and making deliveries slower.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487168"/>
            <a:ext cx="4023360" cy="1536192"/>
          </a:xfrm>
          <a:prstGeom prst="rect">
            <a:avLst/>
          </a:prstGeom>
          <a:solidFill>
            <a:srgbClr val="243557"/>
          </a:solidFill>
          <a:ln w="10160">
            <a:solidFill>
              <a:srgbClr val="2E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487168"/>
            <a:ext cx="50292" cy="1536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8C79"/>
                </a:solidFill>
              </a:rPr>
              <a:t>+3.7 min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A5C5"/>
                </a:solidFill>
              </a:rPr>
              <a:t>longer delivery when surge is applied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5387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5A8"/>
                </a:solidFill>
              </a:rPr>
              <a:t>43.2 min (surge)  vs  39.5 min (no surge)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2487168"/>
            <a:ext cx="2231136" cy="1536192"/>
          </a:xfrm>
          <a:prstGeom prst="rect">
            <a:avLst/>
          </a:prstGeom>
          <a:solidFill>
            <a:srgbClr val="243557"/>
          </a:solidFill>
          <a:ln w="10160">
            <a:solidFill>
              <a:srgbClr val="2E4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633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50,000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5C5"/>
                </a:solidFill>
              </a:rPr>
              <a:t>orders analysed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32904" y="2487168"/>
            <a:ext cx="2231136" cy="1536192"/>
          </a:xfrm>
          <a:prstGeom prst="rect">
            <a:avLst/>
          </a:prstGeom>
          <a:solidFill>
            <a:srgbClr val="243557"/>
          </a:solidFill>
          <a:ln w="10160">
            <a:solidFill>
              <a:srgbClr val="2E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0064" y="2633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 cities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70064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5C5"/>
                </a:solidFill>
              </a:rPr>
              <a:t>Jan-Mar 2025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65208" y="2487168"/>
            <a:ext cx="2231136" cy="1536192"/>
          </a:xfrm>
          <a:prstGeom prst="rect">
            <a:avLst/>
          </a:prstGeom>
          <a:solidFill>
            <a:srgbClr val="243557"/>
          </a:solidFill>
          <a:ln w="10160">
            <a:solidFill>
              <a:srgbClr val="2E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2633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12.7%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02368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5C5"/>
                </a:solidFill>
              </a:rPr>
              <a:t>surge outside peak hours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0C4DE"/>
                </a:solidFill>
              </a:rPr>
              <a:t>Surge policy fires after queues form — not before. It compensates riders for a backlog it never prevented.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9"/>
                </a:solidFill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Stack, method, and key trade-offs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96A9"/>
                </a:solidFill>
              </a:rPr>
              <a:t>WHAT WE BUILT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47472" cy="347472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6002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Python + Pandas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185623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EDA, aggregations, surge vs delivery correlation (scipy.stats)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15768"/>
            <a:ext cx="347472" cy="347472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7157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Matplotlib charts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2971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6 annotated charts — hourly demand, surge overlap, city cohorts, forecast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347472" cy="347472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8313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Narrated Jupyter notebook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40873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Runs top-to-bottom. Each section has a markdown explanation before code.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46904"/>
            <a:ext cx="347472" cy="347472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49469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PptxGenJS slide deck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520293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7-slide ops deck + this 5-slide evaluator deck, both built programmatically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1298448"/>
            <a:ext cx="5212080" cy="521208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4475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496A9"/>
                </a:solidFill>
              </a:rPr>
              <a:t>KEY TRADE-OFFS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01968" y="1810512"/>
            <a:ext cx="36576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8288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Rolling mean vs ARIMA for forecast?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48272" y="2084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Chose rolling mean — honest at 7-day horizon with high day-to-day variance. ARIMA needs 6+ months to stabilise.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01968" y="2889504"/>
            <a:ext cx="36576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9077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Correlation vs causation on surge?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48272" y="31638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Reported r = 0.12 as association, not causation. Ops team needs an A/B test to confirm direction.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01968" y="3968496"/>
            <a:ext cx="36576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9867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City-level vs aggregate analysis?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48272" y="42428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Both. Aggregated for trend clarity; city cohort confirmed all 7 cities peak identically — uniform policy is fine.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01968" y="5047488"/>
            <a:ext cx="36576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50657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Surge 'misfire' definition?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48272" y="53218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Orders outside hours 12–14 and 19–22 with surge applied. Conservative — flags only clear off-peak, not edge cases.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9"/>
                </a:solidFill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BUILD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Notebook + charts, running end-to-end</a:t>
            </a:r>
            <a:endParaRPr lang="en-US" sz="3000" dirty="0"/>
          </a:p>
        </p:txBody>
      </p:sp>
      <p:pic>
        <p:nvPicPr>
          <p:cNvPr id="5" name="Image 0" descr="/home/claude/chart_slide3_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74066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353312"/>
            <a:ext cx="5029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42732" y="1353312"/>
            <a:ext cx="3607308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1444752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Narrated notebook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75320" y="1700784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Each analysis section has a plain-English markdown cell above the code. Runs top-to-bottom with pre-run outputs.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92440" y="2578608"/>
            <a:ext cx="5029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42732" y="2578608"/>
            <a:ext cx="3607308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670048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smoking-gun cell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75320" y="2926080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r = 0.12, p &lt; 0.001 — surge correlates with slower delivery. Printed directly as output, not buried in a chart.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92440" y="3803904"/>
            <a:ext cx="5029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42732" y="3803904"/>
            <a:ext cx="3607308" cy="1078992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3895344"/>
            <a:ext cx="3401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Chart: delivery vs surge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75320" y="4151376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Visual proof — no peak hour shows surge reducing delivery time. Green vs red bars make it impossible to miss.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92840" cy="292608"/>
          </a:xfrm>
          <a:prstGeom prst="rect">
            <a:avLst/>
          </a:prstGeom>
          <a:solidFill>
            <a:srgbClr val="EEF2F8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✓  Jupyter notebook (narrated, runnable)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2900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✓  7-slide ops deck (PPTX)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✓  7-day forecast CSV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098280" y="5577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✓  Exec summary (1-page)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9"/>
                </a:solidFill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OUTCOMES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</a:rPr>
              <a:t>What the analysis found, with numbers</a:t>
            </a:r>
            <a:endParaRPr lang="en-US" sz="3000" dirty="0"/>
          </a:p>
        </p:txBody>
      </p:sp>
      <p:pic>
        <p:nvPicPr>
          <p:cNvPr id="5" name="Image 0" descr="/home/claude/chart_outco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1129284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102352"/>
            <a:ext cx="2697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" y="5157216"/>
            <a:ext cx="310896" cy="31089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" y="5157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87552" y="5148072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Surge fires in off-peak 12.7% of the time — 1,515 wasted orders over 90 days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10128" y="5102352"/>
            <a:ext cx="2697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8144" y="5157216"/>
            <a:ext cx="310896" cy="31089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38144" y="5157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40480" y="5148072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Surge orders arrive 3.7 min slower than non-surge (r=0.12, p&lt;0.001)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63056" y="5102352"/>
            <a:ext cx="2697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5157216"/>
            <a:ext cx="310896" cy="31089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5157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93408" y="5148072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Weekend surge rate 32.2% vs 20.5% weekday — no weekend policy exists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015984" y="5102352"/>
            <a:ext cx="26974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0" y="5157216"/>
            <a:ext cx="310896" cy="31089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0" y="5157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546336" y="5148072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DOW-adjusted forecast: Tue 96 orders, Mon 85 — 13% swing the flat model missed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9"/>
                </a:solidFill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243557"/>
          </a:solidFill>
          <a:ln w="12700">
            <a:solidFill>
              <a:srgbClr val="2E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A5C5"/>
                </a:solidFill>
              </a:rPr>
              <a:t>WHAT'S NEXT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247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With another week, here's what gets built.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5577840" cy="2176272"/>
          </a:xfrm>
          <a:prstGeom prst="rect">
            <a:avLst/>
          </a:prstGeom>
          <a:solidFill>
            <a:srgbClr val="1E3454"/>
          </a:solidFill>
          <a:ln w="8890">
            <a:solidFill>
              <a:srgbClr val="2E4A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53312"/>
            <a:ext cx="50292" cy="21762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85A8"/>
                </a:solidFill>
              </a:rPr>
              <a:t>Day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733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A/B test design — production-ready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C4DE"/>
                </a:solidFill>
              </a:rPr>
              <a:t>Formalise the weekend pre-position experiment with exact sample size calculation, randomisation unit (city-week), and a power analysis for the 2-min delivery improvement target. Hand it to the Ops team as a runnable protocol.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5212080" cy="0"/>
          </a:xfrm>
          <a:prstGeom prst="line">
            <a:avLst/>
          </a:prstGeom>
          <a:noFill/>
          <a:ln w="6350">
            <a:solidFill>
              <a:srgbClr val="2E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17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</a:rPr>
              <a:t>Highest priority — cheapest to run, fastest signal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1353312"/>
            <a:ext cx="5577840" cy="2176272"/>
          </a:xfrm>
          <a:prstGeom prst="rect">
            <a:avLst/>
          </a:prstGeom>
          <a:solidFill>
            <a:srgbClr val="1E3454"/>
          </a:solidFill>
          <a:ln w="8890">
            <a:solidFill>
              <a:srgbClr val="2E4A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353312"/>
            <a:ext cx="50292" cy="21762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630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85A8"/>
                </a:solidFill>
              </a:rPr>
              <a:t>Day 3–4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16733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Weather-augmented forecast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029968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C4DE"/>
                </a:solidFill>
              </a:rPr>
              <a:t>Pull rain probability data from the IMD Open API and add it as a regressor to the Delhi forecast. Test MAPE improvement. Expected: 4–6pp reduction. Generalise to all 7 cities.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2926080"/>
            <a:ext cx="5212080" cy="0"/>
          </a:xfrm>
          <a:prstGeom prst="line">
            <a:avLst/>
          </a:prstGeom>
          <a:noFill/>
          <a:ln w="6350">
            <a:solidFill>
              <a:srgbClr val="2E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0175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</a:rPr>
              <a:t>Forecast MAPE target: below 12%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5577840" cy="2176272"/>
          </a:xfrm>
          <a:prstGeom prst="rect">
            <a:avLst/>
          </a:prstGeom>
          <a:solidFill>
            <a:srgbClr val="1E3454"/>
          </a:solidFill>
          <a:ln w="8890">
            <a:solidFill>
              <a:srgbClr val="2E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49040"/>
            <a:ext cx="50292" cy="21762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5876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85A8"/>
                </a:solidFill>
              </a:rPr>
              <a:t>Day 4–5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406908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Streamlit ops dashboard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425696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C4DE"/>
                </a:solidFill>
              </a:rPr>
              <a:t>Live city × hour demand heatmap, surge overlap indicator, and 7-day forecast panel. Ops Head can slice by city and weekday/weekend without touching a spreadsheet.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5321808"/>
            <a:ext cx="5212080" cy="0"/>
          </a:xfrm>
          <a:prstGeom prst="line">
            <a:avLst/>
          </a:prstGeom>
          <a:noFill/>
          <a:ln w="6350">
            <a:solidFill>
              <a:srgbClr val="2E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41324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</a:rPr>
              <a:t>Stretch goal — depends on data pipeline access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3749040"/>
            <a:ext cx="5577840" cy="2176272"/>
          </a:xfrm>
          <a:prstGeom prst="rect">
            <a:avLst/>
          </a:prstGeom>
          <a:solidFill>
            <a:srgbClr val="1E3454"/>
          </a:solidFill>
          <a:ln w="8890">
            <a:solidFill>
              <a:srgbClr val="2E4A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749040"/>
            <a:ext cx="50292" cy="21762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85876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85A8"/>
                </a:solidFill>
              </a:rPr>
              <a:t>Day 5–7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406908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Cuisine-level demand segmentation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4425696"/>
            <a:ext cx="5212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C4DE"/>
                </a:solidFill>
              </a:rPr>
              <a:t>Biryani and Fast Food behave differently at peak. A cuisine-aware pre-position model could target rider type by zone, not just rider count. Early-stage but high potential.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5321808"/>
            <a:ext cx="5212080" cy="0"/>
          </a:xfrm>
          <a:prstGeom prst="line">
            <a:avLst/>
          </a:prstGeom>
          <a:noFill/>
          <a:ln w="6350">
            <a:solidFill>
              <a:srgbClr val="2E4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541324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5A8"/>
                </a:solidFill>
              </a:rPr>
              <a:t>Exploratory — needs restaurant-level location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6A9"/>
                </a:solidFill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2026-05-14T19:32:11Z</dcterms:created>
  <dcterms:modified xsi:type="dcterms:W3CDTF">2026-05-14T19:32:11Z</dcterms:modified>
</cp:coreProperties>
</file>